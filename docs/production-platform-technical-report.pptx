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README.md; apps/web-ui/src/assets/logo.png; apps/web-ui/src/assets/dashboard/flex.png.</a:t>
            </a:r>
          </a:p>
          <a:p>
            <a:r>
              <a:t>This report is based on the current repository, deployment scripts, and runtime model. It does not invent uninstrumented time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 feature summary; apps/web-ui/src/scripts/router/index.ts; apps/backend/src/api/router.py.</a:t>
            </a:r>
          </a:p>
          <a:p>
            <a:r>
              <a:t>The value-chain framing is a synthesis of the current product modules, not a claim that every workflow is fully automated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apps/backend/src/app.py; apps/backend/src/api/router.py; apps/web-ui/package.json; apps/web-ui/src/scripts/router/index.ts; README.md persistence and deployment sections.</a:t>
            </a:r>
          </a:p>
          <a:p>
            <a:r>
              <a:t>The diagram groups repository routers and integrations into presentation-level domains for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 feature summary; apps/web-ui/src/scripts/router/index.ts; apps/backend/src/api/router.py; data and version modules.</a:t>
            </a:r>
          </a:p>
          <a:p>
            <a:r>
              <a:t>The flow is an operating model synthesized from available routes and domain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 web-function list; apps/web-ui/src/scripts/router/index.ts; apps/backend/src/api/router.py; module directories under apps/backend/src/modules/.</a:t>
            </a:r>
          </a:p>
          <a:p>
            <a:r>
              <a:t>Capability labels are grouped for presentation clarity; individual routes and modules remain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apps/web-ui/package.json; apps/backend/pyproject.toml; Makefile; deploy/remote.sh; deploy/backend.sh; deploy/web.sh.</a:t>
            </a:r>
          </a:p>
          <a:p>
            <a:r>
              <a:t>Technology descriptions state the role of dependencies in the current repository rather than evaluating every library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 feature and deployment sections; Makefile; deploy/remote.sh; apps/backend/src/api/router.py; apps/web-ui/src/scripts/router/index.ts.</a:t>
            </a:r>
          </a:p>
          <a:p>
            <a:r>
              <a:t>Efficiency claims are directional and workflow-based. Quantified savings require baseline measurements and production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apps/backend/src/modules/auth/; apps/backend/src/core/config.py; README.md persistence and deployment sections; deploy/backend.sh; deploy/web.sh.</a:t>
            </a:r>
          </a:p>
          <a:p>
            <a:r>
              <a:t>Safeguard descriptions reflect current modules and deployment patterns; operational outcomes still depend on configuration and runtime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Makefile; deploy/remote.sh; deploy/backend.sh; deploy/web.sh; README.md server deployment section.</a:t>
            </a:r>
          </a:p>
          <a:p>
            <a:r>
              <a:t>The commands and sequence come from repository scripts; repeatability does not mean release risk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basis: README.md; Makefile; apps/backend/src; apps/web-ui/src; deploy/.</a:t>
            </a:r>
          </a:p>
          <a:p>
            <a:r>
              <a:t>Recommended next steps are engineering recommendations; they do not imply that every item is already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11B34"/>
            </a:gs>
            <a:gs pos="100000">
              <a:srgbClr val="18274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" name="圆角矩形 19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oundRect">
            <a:avLst>
              <a:gd name="adj" fmla="val 0"/>
            </a:avLst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6960235" y="476885"/>
            <a:ext cx="4000500" cy="4000500"/>
          </a:xfrm>
          <a:prstGeom prst="ellipse">
            <a:avLst/>
          </a:prstGeom>
          <a:solidFill>
            <a:srgbClr val="1B3158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8259445" y="3357245"/>
            <a:ext cx="3429000" cy="3429000"/>
          </a:xfrm>
          <a:prstGeom prst="ellipse">
            <a:avLst/>
          </a:prstGeom>
          <a:solidFill>
            <a:srgbClr val="152A4B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524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97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257300"/>
            <a:ext cx="685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5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</a:t>
            </a:r>
            <a:endParaRPr sz="35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5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Architecture &amp; Efficiency Report</a:t>
            </a:r>
            <a:endParaRPr sz="35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000375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02"/>
          </a:bodyPr>
          <a:lstStyle/>
          <a:p>
            <a:pPr algn="l">
              <a:defRPr sz="15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Unified platform for production testing, data workflows, and version collaboration</a:t>
            </a:r>
            <a:endParaRPr sz="15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3876675"/>
            <a:ext cx="1333500" cy="247650"/>
          </a:xfrm>
          <a:prstGeom prst="roundRect">
            <a:avLst>
              <a:gd name="adj" fmla="val 50000"/>
            </a:avLst>
          </a:prstGeom>
          <a:solidFill>
            <a:srgbClr val="45E5F2">
              <a:alpha val="13333"/>
            </a:srgbClr>
          </a:solidFill>
          <a:ln w="9525">
            <a:solidFill>
              <a:srgbClr val="45E5F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3933825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Vue 3 + Vite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71700" y="3876675"/>
            <a:ext cx="1676400" cy="247650"/>
          </a:xfrm>
          <a:prstGeom prst="roundRect">
            <a:avLst>
              <a:gd name="adj" fmla="val 50000"/>
            </a:avLst>
          </a:prstGeom>
          <a:solidFill>
            <a:srgbClr val="78A9FF">
              <a:alpha val="13333"/>
            </a:srgbClr>
          </a:solidFill>
          <a:ln w="9525">
            <a:solidFill>
              <a:srgbClr val="78A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171700" y="3933825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FastAPI + Uvicorn</a:t>
            </a:r>
            <a:endParaRPr sz="825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962400" y="3876675"/>
            <a:ext cx="1676400" cy="247650"/>
          </a:xfrm>
          <a:prstGeom prst="roundRect">
            <a:avLst>
              <a:gd name="adj" fmla="val 50000"/>
            </a:avLst>
          </a:prstGeom>
          <a:solidFill>
            <a:srgbClr val="62E4A4">
              <a:alpha val="13333"/>
            </a:srgbClr>
          </a:solidFill>
          <a:ln w="9525">
            <a:solidFill>
              <a:srgbClr val="62E4A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62400" y="3933825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MongoDB + SQLite</a:t>
            </a:r>
            <a:endParaRPr sz="825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753100" y="3876675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B39AFF">
              <a:alpha val="13333"/>
            </a:srgbClr>
          </a:solidFill>
          <a:ln w="9525">
            <a:solidFill>
              <a:srgbClr val="B39A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753100" y="3933825"/>
            <a:ext cx="1619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Nginx + systemd</a:t>
            </a:r>
            <a:endParaRPr sz="825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765548"/>
            <a:ext cx="685800" cy="774954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600200" y="4876800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Digital foundation for production engineering</a:t>
            </a:r>
            <a:endParaRPr sz="1200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200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From device operation to quality decisions, every step becomes traceable and reusable</a:t>
            </a:r>
            <a:endParaRPr sz="1200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15375" y="519112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testing</a:t>
            </a:r>
            <a:endParaRPr sz="127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+ data automation</a:t>
            </a:r>
            <a:endParaRPr sz="127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6229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Report date: September 9, 2026</a:t>
            </a:r>
            <a:endParaRPr sz="90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" name="矩形 48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From fragmented work to one traceable production workflow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562100"/>
            <a:ext cx="533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63"/>
          </a:bodyPr>
          <a:lstStyle/>
          <a:p>
            <a:pPr algn="l">
              <a:defRPr sz="18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From device control and test execution to data analysis and version decisions, one workspace connects the full loop.</a:t>
            </a:r>
            <a:endParaRPr sz="18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40030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platform's value is not just another page. It consolidates actions that previously lived across devices, files, spreadsheets, and collaboration tools into reusable workflows.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191250" y="1562100"/>
            <a:ext cx="2305050" cy="1562100"/>
          </a:xfrm>
          <a:prstGeom prst="roundRect">
            <a:avLst>
              <a:gd name="adj" fmla="val 9756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/>
        </p:nvSpPr>
        <p:spPr>
          <a:xfrm>
            <a:off x="6381750" y="1771650"/>
            <a:ext cx="361950" cy="36195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381750" y="1883855"/>
            <a:ext cx="361950" cy="108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7857"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77050" y="17907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Unified entry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00800" y="22860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Unified login, role permissions, and navigation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One workspace for devices, tests, data, and versions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0" y="1562100"/>
            <a:ext cx="2305050" cy="1562100"/>
          </a:xfrm>
          <a:prstGeom prst="roundRect">
            <a:avLst>
              <a:gd name="adj" fmla="val 9756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/>
        </p:nvSpPr>
        <p:spPr>
          <a:xfrm>
            <a:off x="8953500" y="1771650"/>
            <a:ext cx="361950" cy="36195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0" y="1883855"/>
            <a:ext cx="361950" cy="108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7857"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448800" y="17907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Automated loop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2860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27"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 records, background orchestration, analysis, and messages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Results become reusable instead of one-off files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91250" y="3486150"/>
            <a:ext cx="2305050" cy="1562100"/>
          </a:xfrm>
          <a:prstGeom prst="roundRect">
            <a:avLst>
              <a:gd name="adj" fmla="val 9756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/>
        </p:nvSpPr>
        <p:spPr>
          <a:xfrm>
            <a:off x="6381750" y="3695700"/>
            <a:ext cx="361950" cy="361950"/>
          </a:xfrm>
          <a:prstGeom prst="ellipse">
            <a:avLst/>
          </a:prstGeom>
          <a:solidFill>
            <a:srgbClr val="78A9FF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3807904"/>
            <a:ext cx="361950" cy="108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7857"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77050" y="37147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Modular growth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6365" y="421005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FastAPI router aggregation plus domain modules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New capabilities can be added with clear boundaries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763000" y="3486150"/>
            <a:ext cx="2305050" cy="1562100"/>
          </a:xfrm>
          <a:prstGeom prst="roundRect">
            <a:avLst>
              <a:gd name="adj" fmla="val 9756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椭圆 22"/>
          <p:cNvSpPr>
            <a:spLocks noGrp="1"/>
          </p:cNvSpPr>
          <p:nvPr/>
        </p:nvSpPr>
        <p:spPr>
          <a:xfrm>
            <a:off x="8953500" y="3695700"/>
            <a:ext cx="361950" cy="36195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0" y="3807904"/>
            <a:ext cx="361950" cy="108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7857"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48800" y="37147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745"/>
          </a:bodyPr>
          <a:lstStyle/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Repeatable delivery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421005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uv workspace, npm build, systemd, and Nginx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Deployment moves from manual steps to standard scripts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265" y="50673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VALUE CHAIN</a:t>
            </a:r>
            <a:endParaRPr sz="9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23265" y="5486400"/>
            <a:ext cx="1524000" cy="685800"/>
          </a:xfrm>
          <a:prstGeom prst="roundRect">
            <a:avLst>
              <a:gd name="adj" fmla="val 22222"/>
            </a:avLst>
          </a:prstGeom>
          <a:solidFill>
            <a:srgbClr val="1B2948"/>
          </a:solidFill>
          <a:ln w="14288">
            <a:solidFill>
              <a:srgbClr val="78A9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3265" y="561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Capture</a:t>
            </a:r>
            <a:endParaRPr sz="1500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3265" y="5905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Devices / scripts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2761615" y="5486400"/>
            <a:ext cx="1524000" cy="685800"/>
          </a:xfrm>
          <a:prstGeom prst="roundRect">
            <a:avLst>
              <a:gd name="adj" fmla="val 22222"/>
            </a:avLst>
          </a:prstGeom>
          <a:solidFill>
            <a:srgbClr val="1B2948"/>
          </a:solidFill>
          <a:ln w="14288">
            <a:solidFill>
              <a:srgbClr val="45E5F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61615" y="561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Execute</a:t>
            </a:r>
            <a:endParaRPr sz="15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61615" y="5905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Tests / monitoring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2247265" y="5829300"/>
            <a:ext cx="5143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4799965" y="5486400"/>
            <a:ext cx="1524000" cy="685800"/>
          </a:xfrm>
          <a:prstGeom prst="roundRect">
            <a:avLst>
              <a:gd name="adj" fmla="val 22222"/>
            </a:avLst>
          </a:prstGeom>
          <a:solidFill>
            <a:srgbClr val="1B2948"/>
          </a:solidFill>
          <a:ln w="14288">
            <a:solidFill>
              <a:srgbClr val="62E4A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799965" y="561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</a:t>
            </a:r>
            <a:endParaRPr sz="150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799965" y="5905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Records / archive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4285615" y="5829300"/>
            <a:ext cx="5143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6838315" y="5486400"/>
            <a:ext cx="1524000" cy="685800"/>
          </a:xfrm>
          <a:prstGeom prst="roundRect">
            <a:avLst>
              <a:gd name="adj" fmla="val 22222"/>
            </a:avLst>
          </a:prstGeom>
          <a:solidFill>
            <a:srgbClr val="1B2948"/>
          </a:solidFill>
          <a:ln w="14288">
            <a:solidFill>
              <a:srgbClr val="F4C66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38315" y="561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Analyze</a:t>
            </a:r>
            <a:endParaRPr sz="1500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838315" y="5905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Charts / decisions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6323965" y="5829300"/>
            <a:ext cx="5143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876665" y="5486400"/>
            <a:ext cx="1524000" cy="685800"/>
          </a:xfrm>
          <a:prstGeom prst="roundRect">
            <a:avLst>
              <a:gd name="adj" fmla="val 22222"/>
            </a:avLst>
          </a:prstGeom>
          <a:solidFill>
            <a:srgbClr val="1B2948"/>
          </a:solidFill>
          <a:ln w="14288">
            <a:solidFill>
              <a:srgbClr val="B39AF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876665" y="561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Collaborate</a:t>
            </a:r>
            <a:endParaRPr sz="1500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876665" y="5905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Versions / messages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362315" y="5829300"/>
            <a:ext cx="5143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矩形 53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Three-layer architecture: frontend, service orchestration, domain capability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browser-facing Vue application connects through Nginx and Uvicorn to a FastAPI service that aggregates focused business domains.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943100"/>
            <a:ext cx="10972800" cy="552450"/>
          </a:xfrm>
          <a:prstGeom prst="roundRect">
            <a:avLst>
              <a:gd name="adj" fmla="val 27586"/>
            </a:avLst>
          </a:prstGeom>
          <a:solidFill>
            <a:srgbClr val="1B2948"/>
          </a:solidFill>
          <a:ln w="14288">
            <a:solidFill>
              <a:srgbClr val="45E5F2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81050" y="2066925"/>
            <a:ext cx="304800" cy="3048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161413"/>
            <a:ext cx="304800" cy="91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889"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WEB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20859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Vue 3 · TypeScript · Vite</a:t>
            </a:r>
            <a:endParaRPr sz="127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96200" y="2105025"/>
            <a:ext cx="3524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Vue Router · Pinia · Element Plus · ECharts · HLS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190750" y="2724150"/>
            <a:ext cx="7810500" cy="552450"/>
          </a:xfrm>
          <a:prstGeom prst="roundRect">
            <a:avLst>
              <a:gd name="adj" fmla="val 27586"/>
            </a:avLst>
          </a:prstGeom>
          <a:solidFill>
            <a:srgbClr val="21345A"/>
          </a:solidFill>
          <a:ln w="14288">
            <a:solidFill>
              <a:srgbClr val="78A9FF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2381250" y="2847975"/>
            <a:ext cx="304800" cy="304800"/>
          </a:xfrm>
          <a:prstGeom prst="ellipse">
            <a:avLst/>
          </a:prstGeom>
          <a:solidFill>
            <a:srgbClr val="78A9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381250" y="2942463"/>
            <a:ext cx="304800" cy="91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889"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19400" y="28670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Nginx → Uvicorn → FastAPI</a:t>
            </a:r>
            <a:endParaRPr sz="127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2876550"/>
            <a:ext cx="3371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Locale middleware · optional CORS · unified /api router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096000" y="2495550"/>
            <a:ext cx="0" cy="22860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3638550"/>
            <a:ext cx="1962150" cy="838200"/>
          </a:xfrm>
          <a:prstGeom prst="roundRect">
            <a:avLst>
              <a:gd name="adj" fmla="val 13636"/>
            </a:avLst>
          </a:prstGeom>
          <a:solidFill>
            <a:srgbClr val="151F39"/>
          </a:solidFill>
          <a:ln w="11430">
            <a:solidFill>
              <a:srgbClr val="B39A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8100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Auth &amp; permissions</a:t>
            </a:r>
            <a:endParaRPr sz="1050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41338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JWT / roles / access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73" name="直接箭头连接符 72"/>
          <p:cNvCxnSpPr>
            <a:stCxn id="11" idx="2"/>
            <a:endCxn id="17" idx="0"/>
          </p:cNvCxnSpPr>
          <p:nvPr/>
        </p:nvCxnSpPr>
        <p:spPr>
          <a:xfrm flipH="1">
            <a:off x="1590675" y="3276600"/>
            <a:ext cx="4505325" cy="361950"/>
          </a:xfrm>
          <a:prstGeom prst="straightConnector1">
            <a:avLst/>
          </a:prstGeom>
          <a:ln w="14288">
            <a:solidFill>
              <a:srgbClr val="B39AFF"/>
            </a:solidFill>
            <a:prstDash val="solid"/>
          </a:ln>
        </p:spPr>
      </p:cxnSp>
      <p:sp>
        <p:nvSpPr>
          <p:cNvPr id="21" name="圆角矩形 20"/>
          <p:cNvSpPr>
            <a:spLocks noGrp="1"/>
          </p:cNvSpPr>
          <p:nvPr/>
        </p:nvSpPr>
        <p:spPr>
          <a:xfrm>
            <a:off x="2800350" y="3638550"/>
            <a:ext cx="1962150" cy="838200"/>
          </a:xfrm>
          <a:prstGeom prst="roundRect">
            <a:avLst>
              <a:gd name="adj" fmla="val 13636"/>
            </a:avLst>
          </a:prstGeom>
          <a:solidFill>
            <a:srgbClr val="151F39"/>
          </a:solidFill>
          <a:ln w="11430">
            <a:solidFill>
              <a:srgbClr val="45E5F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14650" y="38100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Devices &amp; tests</a:t>
            </a:r>
            <a:endParaRPr sz="105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14650" y="41338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robots / protocol / monitor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77" name="直接箭头连接符 76"/>
          <p:cNvCxnSpPr>
            <a:stCxn id="11" idx="2"/>
            <a:endCxn id="21" idx="0"/>
          </p:cNvCxnSpPr>
          <p:nvPr/>
        </p:nvCxnSpPr>
        <p:spPr>
          <a:xfrm flipH="1">
            <a:off x="3781425" y="3276600"/>
            <a:ext cx="2314575" cy="361950"/>
          </a:xfrm>
          <a:prstGeom prst="straightConnector1">
            <a:avLst/>
          </a:prstGeom>
          <a:ln w="14288">
            <a:solidFill>
              <a:srgbClr val="45E5F2"/>
            </a:solidFill>
            <a:prstDash val="solid"/>
          </a:ln>
        </p:spPr>
      </p:cxnSp>
      <p:sp>
        <p:nvSpPr>
          <p:cNvPr id="25" name="圆角矩形 24"/>
          <p:cNvSpPr>
            <a:spLocks noGrp="1"/>
          </p:cNvSpPr>
          <p:nvPr/>
        </p:nvSpPr>
        <p:spPr>
          <a:xfrm>
            <a:off x="4991100" y="3638550"/>
            <a:ext cx="1962150" cy="838200"/>
          </a:xfrm>
          <a:prstGeom prst="roundRect">
            <a:avLst>
              <a:gd name="adj" fmla="val 13636"/>
            </a:avLst>
          </a:prstGeom>
          <a:solidFill>
            <a:srgbClr val="151F39"/>
          </a:solidFill>
          <a:ln w="11430">
            <a:solidFill>
              <a:srgbClr val="62E4A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105400" y="38100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 &amp; quality</a:t>
            </a:r>
            <a:endParaRPr sz="105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05400" y="41338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uploads / analysis / links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81" name="直接箭头连接符 80"/>
          <p:cNvCxnSpPr>
            <a:stCxn id="11" idx="2"/>
            <a:endCxn id="25" idx="0"/>
          </p:cNvCxnSpPr>
          <p:nvPr/>
        </p:nvCxnSpPr>
        <p:spPr>
          <a:xfrm flipH="1">
            <a:off x="5972175" y="3276600"/>
            <a:ext cx="123825" cy="361950"/>
          </a:xfrm>
          <a:prstGeom prst="straightConnector1">
            <a:avLst/>
          </a:prstGeom>
          <a:ln w="14288">
            <a:solidFill>
              <a:srgbClr val="62E4A4"/>
            </a:solidFill>
            <a:prstDash val="solid"/>
          </a:ln>
        </p:spPr>
      </p:cxnSp>
      <p:sp>
        <p:nvSpPr>
          <p:cNvPr id="29" name="圆角矩形 28"/>
          <p:cNvSpPr>
            <a:spLocks noGrp="1"/>
          </p:cNvSpPr>
          <p:nvPr/>
        </p:nvSpPr>
        <p:spPr>
          <a:xfrm>
            <a:off x="7181850" y="3638550"/>
            <a:ext cx="1962150" cy="838200"/>
          </a:xfrm>
          <a:prstGeom prst="roundRect">
            <a:avLst>
              <a:gd name="adj" fmla="val 13636"/>
            </a:avLst>
          </a:prstGeom>
          <a:solidFill>
            <a:srgbClr val="151F39"/>
          </a:solidFill>
          <a:ln w="11430">
            <a:solidFill>
              <a:srgbClr val="F4C66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96150" y="38100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Versions &amp; collaboration</a:t>
            </a:r>
            <a:endParaRPr sz="1050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296150" y="41338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SOP / Duro / messages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85" name="直接箭头连接符 84"/>
          <p:cNvCxnSpPr>
            <a:stCxn id="11" idx="2"/>
            <a:endCxn id="29" idx="0"/>
          </p:cNvCxnSpPr>
          <p:nvPr/>
        </p:nvCxnSpPr>
        <p:spPr>
          <a:xfrm>
            <a:off x="6096000" y="3276600"/>
            <a:ext cx="2066925" cy="361950"/>
          </a:xfrm>
          <a:prstGeom prst="straightConnector1">
            <a:avLst/>
          </a:prstGeom>
          <a:ln w="14288">
            <a:solidFill>
              <a:srgbClr val="F4C66B"/>
            </a:solidFill>
            <a:prstDash val="solid"/>
          </a:ln>
        </p:spPr>
      </p:cxnSp>
      <p:sp>
        <p:nvSpPr>
          <p:cNvPr id="33" name="圆角矩形 32"/>
          <p:cNvSpPr>
            <a:spLocks noGrp="1"/>
          </p:cNvSpPr>
          <p:nvPr/>
        </p:nvSpPr>
        <p:spPr>
          <a:xfrm>
            <a:off x="9372600" y="3638550"/>
            <a:ext cx="1962150" cy="838200"/>
          </a:xfrm>
          <a:prstGeom prst="roundRect">
            <a:avLst>
              <a:gd name="adj" fmla="val 13636"/>
            </a:avLst>
          </a:prstGeom>
          <a:solidFill>
            <a:srgbClr val="151F39"/>
          </a:solidFill>
          <a:ln w="11430">
            <a:solidFill>
              <a:srgbClr val="FF819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486900" y="38100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Agent &amp; intelligence</a:t>
            </a:r>
            <a:endParaRPr sz="1050" b="1">
              <a:solidFill>
                <a:srgbClr val="FF819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486900" y="41338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LLM / Google Drive / Slack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89" name="直接箭头连接符 88"/>
          <p:cNvCxnSpPr>
            <a:stCxn id="11" idx="2"/>
            <a:endCxn id="33" idx="0"/>
          </p:cNvCxnSpPr>
          <p:nvPr/>
        </p:nvCxnSpPr>
        <p:spPr>
          <a:xfrm>
            <a:off x="6096000" y="3276600"/>
            <a:ext cx="4257675" cy="361950"/>
          </a:xfrm>
          <a:prstGeom prst="straightConnector1">
            <a:avLst/>
          </a:prstGeom>
          <a:ln w="14288">
            <a:solidFill>
              <a:srgbClr val="FF819A"/>
            </a:solidFill>
            <a:prstDash val="solid"/>
          </a:ln>
        </p:spPr>
      </p:cxnSp>
      <p:sp>
        <p:nvSpPr>
          <p:cNvPr id="37" name="圆角矩形 36"/>
          <p:cNvSpPr>
            <a:spLocks noGrp="1"/>
          </p:cNvSpPr>
          <p:nvPr/>
        </p:nvSpPr>
        <p:spPr>
          <a:xfrm>
            <a:off x="609600" y="4914900"/>
            <a:ext cx="1962150" cy="609600"/>
          </a:xfrm>
          <a:prstGeom prst="roundRect">
            <a:avLst>
              <a:gd name="adj" fmla="val 15625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23900" y="504825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MongoDB</a:t>
            </a:r>
            <a:endParaRPr sz="97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23900" y="5276850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business records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2800350" y="4914900"/>
            <a:ext cx="1962150" cy="609600"/>
          </a:xfrm>
          <a:prstGeom prst="roundRect">
            <a:avLst>
              <a:gd name="adj" fmla="val 15625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914650" y="504825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SQLite</a:t>
            </a:r>
            <a:endParaRPr sz="97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914650" y="5276850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local state / caches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4991100" y="4914900"/>
            <a:ext cx="1962150" cy="609600"/>
          </a:xfrm>
          <a:prstGeom prst="roundRect">
            <a:avLst>
              <a:gd name="adj" fmla="val 15625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105400" y="504825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External services</a:t>
            </a:r>
            <a:endParaRPr sz="97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05400" y="5276850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Google Drive · Slack · Duro · LLM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181850" y="4914900"/>
            <a:ext cx="1962150" cy="609600"/>
          </a:xfrm>
          <a:prstGeom prst="roundRect">
            <a:avLst>
              <a:gd name="adj" fmla="val 15625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296150" y="504825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Opentrons</a:t>
            </a:r>
            <a:endParaRPr sz="97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96150" y="5276850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HTTP API / HLS / ODD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372600" y="4914900"/>
            <a:ext cx="1962150" cy="609600"/>
          </a:xfrm>
          <a:prstGeom prst="roundRect">
            <a:avLst>
              <a:gd name="adj" fmla="val 15625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486900" y="504825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Runtime / deploy</a:t>
            </a:r>
            <a:endParaRPr sz="97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486900" y="5276850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systemd · Nginx · health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Business flow: from login to a decision-ready result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standard path reduces context switching: authenticate, operate, persist, analyze, and share with the same working context.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962025" y="2266950"/>
            <a:ext cx="552450" cy="55245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6202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Login &amp; access</a:t>
            </a:r>
            <a:endParaRPr sz="1125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3448050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JWT / cookies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role-based access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847975" y="2266950"/>
            <a:ext cx="552450" cy="55245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4797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1935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Select device</a:t>
            </a:r>
            <a:endParaRPr sz="11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19350" y="3448050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 status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capability view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3" name="直接箭头连接符 52"/>
          <p:cNvCxnSpPr>
            <a:stCxn id="11" idx="1"/>
            <a:endCxn id="7" idx="3"/>
          </p:cNvCxnSpPr>
          <p:nvPr/>
        </p:nvCxnSpPr>
        <p:spPr>
          <a:xfrm flipH="1">
            <a:off x="1514475" y="2520950"/>
            <a:ext cx="1333500" cy="0"/>
          </a:xfrm>
          <a:prstGeom prst="straightConnector1">
            <a:avLst/>
          </a:prstGeom>
          <a:ln w="19050">
            <a:solidFill>
              <a:srgbClr val="2E4168"/>
            </a:solidFill>
            <a:prstDash val="solid"/>
            <a:headEnd type="arrow" w="sm" len="sm"/>
          </a:ln>
        </p:spPr>
      </p:cxnSp>
      <p:sp>
        <p:nvSpPr>
          <p:cNvPr id="15" name="椭圆 14"/>
          <p:cNvSpPr>
            <a:spLocks noGrp="1"/>
          </p:cNvSpPr>
          <p:nvPr/>
        </p:nvSpPr>
        <p:spPr>
          <a:xfrm>
            <a:off x="4733925" y="2266950"/>
            <a:ext cx="552450" cy="552450"/>
          </a:xfrm>
          <a:prstGeom prst="ellipse">
            <a:avLst/>
          </a:prstGeom>
          <a:solidFill>
            <a:srgbClr val="78A9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3392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0530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1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Control devcie</a:t>
            </a:r>
            <a:endParaRPr lang="en-US" sz="1125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05300" y="3448050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flash scripts</a:t>
            </a: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/ monitor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view versions/ remote ODD</a:t>
            </a:r>
            <a:endParaRPr lang="en-US"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8" name="直接箭头连接符 57"/>
          <p:cNvCxnSpPr>
            <a:stCxn id="16" idx="1"/>
            <a:endCxn id="11" idx="3"/>
          </p:cNvCxnSpPr>
          <p:nvPr/>
        </p:nvCxnSpPr>
        <p:spPr>
          <a:xfrm flipH="1">
            <a:off x="3400425" y="2520950"/>
            <a:ext cx="1333500" cy="0"/>
          </a:xfrm>
          <a:prstGeom prst="straightConnector1">
            <a:avLst/>
          </a:prstGeom>
          <a:ln w="19050">
            <a:solidFill>
              <a:srgbClr val="2E4168"/>
            </a:solidFill>
            <a:prstDash val="solid"/>
            <a:headEnd type="arrow" w="sm" len="sm"/>
          </a:ln>
        </p:spPr>
      </p:cxnSp>
      <p:sp>
        <p:nvSpPr>
          <p:cNvPr id="20" name="椭圆 19"/>
          <p:cNvSpPr>
            <a:spLocks noGrp="1"/>
          </p:cNvSpPr>
          <p:nvPr/>
        </p:nvSpPr>
        <p:spPr>
          <a:xfrm>
            <a:off x="6619875" y="2266950"/>
            <a:ext cx="552450" cy="55245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1987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 data</a:t>
            </a:r>
            <a:endParaRPr sz="1125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3448050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save to MongoDB</a:t>
            </a: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/ </a:t>
            </a: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 test data to GoogleDrive / send a message to slack</a:t>
            </a:r>
            <a:endParaRPr lang="en-US"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63" name="直接箭头连接符 62"/>
          <p:cNvCxnSpPr>
            <a:stCxn id="20" idx="2"/>
            <a:endCxn id="16" idx="3"/>
          </p:cNvCxnSpPr>
          <p:nvPr/>
        </p:nvCxnSpPr>
        <p:spPr>
          <a:xfrm flipH="1" flipV="1">
            <a:off x="5286375" y="2520950"/>
            <a:ext cx="1333500" cy="22225"/>
          </a:xfrm>
          <a:prstGeom prst="straightConnector1">
            <a:avLst/>
          </a:prstGeom>
          <a:ln w="19050">
            <a:solidFill>
              <a:srgbClr val="2E4168"/>
            </a:solidFill>
            <a:prstDash val="solid"/>
            <a:headEnd type="arrow" w="sm" len="sm"/>
          </a:ln>
        </p:spPr>
      </p:cxnSp>
      <p:sp>
        <p:nvSpPr>
          <p:cNvPr id="25" name="椭圆 24"/>
          <p:cNvSpPr>
            <a:spLocks noGrp="1"/>
          </p:cNvSpPr>
          <p:nvPr/>
        </p:nvSpPr>
        <p:spPr>
          <a:xfrm>
            <a:off x="8505825" y="2266950"/>
            <a:ext cx="552450" cy="55245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0582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7720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Analyze</a:t>
            </a:r>
            <a:endParaRPr sz="1125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11795" y="3429000"/>
            <a:ext cx="147510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charts / QC</a:t>
            </a:r>
            <a:endParaRPr lang="en-US"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quality decision</a:t>
            </a:r>
            <a:b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b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It will be happend manualy so far</a:t>
            </a:r>
            <a:endParaRPr lang="en-US"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68" name="直接箭头连接符 67"/>
          <p:cNvCxnSpPr>
            <a:stCxn id="26" idx="1"/>
            <a:endCxn id="21" idx="3"/>
          </p:cNvCxnSpPr>
          <p:nvPr/>
        </p:nvCxnSpPr>
        <p:spPr>
          <a:xfrm flipH="1">
            <a:off x="7172325" y="2520950"/>
            <a:ext cx="1333500" cy="0"/>
          </a:xfrm>
          <a:prstGeom prst="straightConnector1">
            <a:avLst/>
          </a:prstGeom>
          <a:ln w="19050">
            <a:solidFill>
              <a:srgbClr val="2E4168"/>
            </a:solidFill>
            <a:prstDash val="solid"/>
            <a:headEnd type="arrow" w="sm" len="sm"/>
          </a:ln>
        </p:spPr>
      </p:cxnSp>
      <p:sp>
        <p:nvSpPr>
          <p:cNvPr id="30" name="椭圆 29"/>
          <p:cNvSpPr>
            <a:spLocks noGrp="1"/>
          </p:cNvSpPr>
          <p:nvPr/>
        </p:nvSpPr>
        <p:spPr>
          <a:xfrm>
            <a:off x="10391775" y="2266950"/>
            <a:ext cx="552450" cy="552450"/>
          </a:xfrm>
          <a:prstGeom prst="ellipse">
            <a:avLst/>
          </a:prstGeom>
          <a:solidFill>
            <a:srgbClr val="FF819A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391775" y="2438210"/>
            <a:ext cx="5524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105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63150" y="3105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125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Versions</a:t>
            </a:r>
            <a:endParaRPr lang="en-US" sz="1125" b="1">
              <a:solidFill>
                <a:srgbClr val="FF819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963150" y="3448050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Compare the diff between the BOM in SOP and the cpn in duro</a:t>
            </a:r>
            <a:endParaRPr lang="en-US"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73" name="直接箭头连接符 72"/>
          <p:cNvCxnSpPr>
            <a:stCxn id="31" idx="1"/>
            <a:endCxn id="26" idx="3"/>
          </p:cNvCxnSpPr>
          <p:nvPr/>
        </p:nvCxnSpPr>
        <p:spPr>
          <a:xfrm flipH="1">
            <a:off x="9058275" y="2520950"/>
            <a:ext cx="1333500" cy="0"/>
          </a:xfrm>
          <a:prstGeom prst="straightConnector1">
            <a:avLst/>
          </a:prstGeom>
          <a:ln w="19050">
            <a:solidFill>
              <a:srgbClr val="2E4168"/>
            </a:solidFill>
            <a:prstDash val="solid"/>
            <a:headEnd type="arrow" w="sm" len="sm"/>
          </a:ln>
        </p:spPr>
      </p:cxnSp>
      <p:sp>
        <p:nvSpPr>
          <p:cNvPr id="35" name="圆角矩形 34"/>
          <p:cNvSpPr>
            <a:spLocks noGrp="1"/>
          </p:cNvSpPr>
          <p:nvPr/>
        </p:nvSpPr>
        <p:spPr>
          <a:xfrm>
            <a:off x="609600" y="516255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11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8200" y="53721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TRACEABLE OUTPUT</a:t>
            </a:r>
            <a:endParaRPr sz="9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628900" y="5324475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16"/>
          </a:bodyPr>
          <a:lstStyle/>
          <a:p>
            <a:pPr algn="l">
              <a:defRPr sz="12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production action becomes a persistent record that can be reviewed, compared, analyzed, and connected to a version or SOP.</a:t>
            </a:r>
            <a:endParaRPr sz="12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矩形 58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Functional matrix: four capability groups around production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platform brings together execution, quality, collaboration, and intelligence without forcing each function into a separate tool.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095500"/>
            <a:ext cx="2400300" cy="3162300"/>
          </a:xfrm>
          <a:prstGeom prst="roundRect">
            <a:avLst>
              <a:gd name="adj" fmla="val 4762"/>
            </a:avLst>
          </a:prstGeom>
          <a:solidFill>
            <a:srgbClr val="151F39"/>
          </a:solidFill>
          <a:ln w="11430">
            <a:solidFill>
              <a:srgbClr val="45E5F2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095500"/>
            <a:ext cx="2400300" cy="552450"/>
          </a:xfrm>
          <a:prstGeom prst="roundRect">
            <a:avLst>
              <a:gd name="adj" fmla="val 20690"/>
            </a:avLst>
          </a:prstGeom>
          <a:solidFill>
            <a:srgbClr val="45E5F2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276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Devices &amp; execution</a:t>
            </a:r>
            <a:endParaRPr sz="12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781050" y="3019425"/>
            <a:ext cx="76200" cy="762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9527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 status and control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81050" y="3514725"/>
            <a:ext cx="76200" cy="762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4480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Batch operations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81050" y="4010025"/>
            <a:ext cx="76200" cy="762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39433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Files and protocol access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81050" y="4505325"/>
            <a:ext cx="76200" cy="762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44386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ODD screens and Flex HLS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48387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Operate</a:t>
            </a:r>
            <a:endParaRPr sz="825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352800" y="2095500"/>
            <a:ext cx="2400300" cy="3162300"/>
          </a:xfrm>
          <a:prstGeom prst="roundRect">
            <a:avLst>
              <a:gd name="adj" fmla="val 4762"/>
            </a:avLst>
          </a:prstGeom>
          <a:solidFill>
            <a:srgbClr val="151F39"/>
          </a:solidFill>
          <a:ln w="11430">
            <a:solidFill>
              <a:srgbClr val="62E4A4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3352800" y="2095500"/>
            <a:ext cx="2400300" cy="552450"/>
          </a:xfrm>
          <a:prstGeom prst="roundRect">
            <a:avLst>
              <a:gd name="adj" fmla="val 20690"/>
            </a:avLst>
          </a:prstGeom>
          <a:solidFill>
            <a:srgbClr val="62E4A4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05200" y="2276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 &amp; quality</a:t>
            </a:r>
            <a:endParaRPr sz="120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3524250" y="3019425"/>
            <a:ext cx="76200" cy="7620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695700" y="29527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 records and files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524250" y="3514725"/>
            <a:ext cx="76200" cy="7620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695700" y="34480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 and data links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3524250" y="4010025"/>
            <a:ext cx="76200" cy="7620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695700" y="39433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Pipette / robot assembly QC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3524250" y="4505325"/>
            <a:ext cx="76200" cy="7620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695700" y="44386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Charts, analysis, and review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05200" y="48387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Measure</a:t>
            </a:r>
            <a:endParaRPr sz="825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096000" y="2095500"/>
            <a:ext cx="2400300" cy="3162300"/>
          </a:xfrm>
          <a:prstGeom prst="roundRect">
            <a:avLst>
              <a:gd name="adj" fmla="val 4762"/>
            </a:avLst>
          </a:prstGeom>
          <a:solidFill>
            <a:srgbClr val="151F39"/>
          </a:solidFill>
          <a:ln w="11430">
            <a:solidFill>
              <a:srgbClr val="F4C66B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6096000" y="2095500"/>
            <a:ext cx="2400300" cy="552450"/>
          </a:xfrm>
          <a:prstGeom prst="roundRect">
            <a:avLst>
              <a:gd name="adj" fmla="val 20690"/>
            </a:avLst>
          </a:prstGeom>
          <a:solidFill>
            <a:srgbClr val="F4C66B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48400" y="2276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Versions &amp; collaboration</a:t>
            </a:r>
            <a:endParaRPr sz="1200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6267450" y="3019425"/>
            <a:ext cx="76200" cy="7620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38900" y="29527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 and test versions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267450" y="3514725"/>
            <a:ext cx="76200" cy="7620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38900" y="34480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SOP and Duro integration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6267450" y="4010025"/>
            <a:ext cx="76200" cy="7620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38900" y="39433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ECN and contact letters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6267450" y="4505325"/>
            <a:ext cx="76200" cy="7620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38900" y="44386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Messages and Agent context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48400" y="48387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Coordinate</a:t>
            </a:r>
            <a:endParaRPr sz="825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839200" y="2095500"/>
            <a:ext cx="2400300" cy="3162300"/>
          </a:xfrm>
          <a:prstGeom prst="roundRect">
            <a:avLst>
              <a:gd name="adj" fmla="val 4762"/>
            </a:avLst>
          </a:prstGeom>
          <a:solidFill>
            <a:srgbClr val="151F39"/>
          </a:solidFill>
          <a:ln w="11430">
            <a:solidFill>
              <a:srgbClr val="B39AFF"/>
            </a:solidFill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839200" y="2095500"/>
            <a:ext cx="2400300" cy="552450"/>
          </a:xfrm>
          <a:prstGeom prst="roundRect">
            <a:avLst>
              <a:gd name="adj" fmla="val 20690"/>
            </a:avLst>
          </a:prstGeom>
          <a:solidFill>
            <a:srgbClr val="B39AFF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91600" y="2276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Intelligence &amp; platform</a:t>
            </a:r>
            <a:endParaRPr sz="1200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9010650" y="3019425"/>
            <a:ext cx="76200" cy="7620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182100" y="29527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Agent tools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9010650" y="3514725"/>
            <a:ext cx="76200" cy="7620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182100" y="34480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Authentication and permissions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9010650" y="4010025"/>
            <a:ext cx="76200" cy="7620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182100" y="39433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Google Drive / Slack / LLM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010650" y="4505325"/>
            <a:ext cx="76200" cy="7620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182100" y="44386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System and service status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991600" y="48387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Extend</a:t>
            </a:r>
            <a:endParaRPr sz="825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609600" y="5581650"/>
            <a:ext cx="10972800" cy="304800"/>
          </a:xfrm>
          <a:prstGeom prst="roundRect">
            <a:avLst>
              <a:gd name="adj" fmla="val 25000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81050" y="5657850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 principle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2266950" y="56578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Make production actions visible, reusable, and connected to evidence.</a:t>
            </a:r>
            <a:endParaRPr sz="97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Technology choices: lightweight modules with clear boundaries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stack combines a fast browser UI, an API-first Python service, durable business storage, dedicated integrations, and scriptable delivery.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1336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45E5F2">
              <a:alpha val="13333"/>
            </a:srgbClr>
          </a:solidFill>
          <a:ln w="9525">
            <a:solidFill>
              <a:srgbClr val="45E5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19075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WEB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809750" y="2038350"/>
            <a:ext cx="9772650" cy="438150"/>
          </a:xfrm>
          <a:prstGeom prst="roundRect">
            <a:avLst>
              <a:gd name="adj" fmla="val 17391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057400" y="21145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Vue 3 · TypeScript · Vite · Vue Router · Pinia · Element Plus · ECharts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57400" y="2314575"/>
            <a:ext cx="876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Component UI, navigation, state, dashboards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76225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78A9FF">
              <a:alpha val="13333"/>
            </a:srgbClr>
          </a:solidFill>
          <a:ln w="9525">
            <a:solidFill>
              <a:srgbClr val="78A9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81940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SERVICE</a:t>
            </a:r>
            <a:endParaRPr sz="825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809750" y="2667000"/>
            <a:ext cx="9772650" cy="438150"/>
          </a:xfrm>
          <a:prstGeom prst="roundRect">
            <a:avLst>
              <a:gd name="adj" fmla="val 17391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57400" y="27432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Python 3.10 · FastAPI · Uvicorn · Pydantic · HTTPX · asyncio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57400" y="2943225"/>
            <a:ext cx="876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Typed APIs, orchestration, async integrations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33909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62E4A4">
              <a:alpha val="13333"/>
            </a:srgbClr>
          </a:solidFill>
          <a:ln w="9525">
            <a:solidFill>
              <a:srgbClr val="62E4A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344805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</a:t>
            </a:r>
            <a:endParaRPr sz="825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809750" y="3295650"/>
            <a:ext cx="9772650" cy="438150"/>
          </a:xfrm>
          <a:prstGeom prst="roundRect">
            <a:avLst>
              <a:gd name="adj" fmla="val 17391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057400" y="33718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MongoDB · SQLite · pandas · openpyxl · pypdf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57400" y="3571875"/>
            <a:ext cx="876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Business records, local state, tabular and document processing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09600" y="401955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4C66B">
              <a:alpha val="13333"/>
            </a:srgbClr>
          </a:solidFill>
          <a:ln w="9525">
            <a:solidFill>
              <a:srgbClr val="F4C66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407670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AUTOMATION</a:t>
            </a:r>
            <a:endParaRPr sz="825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809750" y="3924300"/>
            <a:ext cx="9772650" cy="438150"/>
          </a:xfrm>
          <a:prstGeom prst="roundRect">
            <a:avLst>
              <a:gd name="adj" fmla="val 17391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57400" y="40005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Opentrons HTTP API · WebSockets · HLS · protocol modules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57400" y="4200525"/>
            <a:ext cx="876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 control, monitoring, files, and live views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09600" y="46482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B39AFF">
              <a:alpha val="13333"/>
            </a:srgbClr>
          </a:solidFill>
          <a:ln w="9525">
            <a:solidFill>
              <a:srgbClr val="B39AF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470535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DELIVERY</a:t>
            </a:r>
            <a:endParaRPr sz="825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809750" y="4552950"/>
            <a:ext cx="9772650" cy="438150"/>
          </a:xfrm>
          <a:prstGeom prst="roundRect">
            <a:avLst>
              <a:gd name="adj" fmla="val 17391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057400" y="4629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uv workspace · npm lockfile · systemd · Nginx · rsync · health check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57400" y="4829175"/>
            <a:ext cx="876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Consistent dependencies, builds, service lifecycle, and release flow</a:t>
            </a:r>
            <a:endParaRPr sz="8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09600" y="533400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19150" y="55149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DESIGN PRINCIPLE</a:t>
            </a:r>
            <a:endParaRPr sz="9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24150" y="54959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Reuse domain modules · keep integrations replaceable · make deployments repeatable</a:t>
            </a:r>
            <a:endParaRPr sz="12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Efficiency uplift: from manual work to a guided workflow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Replace 'find, move, wait, copy' with 'select, run, view, decide'. This report uses a qualitative comparison because historical time telemetry is not present in the repository.</a:t>
            </a:r>
            <a:endParaRPr sz="112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190750"/>
            <a:ext cx="4648200" cy="1428750"/>
          </a:xfrm>
          <a:prstGeom prst="roundRect">
            <a:avLst>
              <a:gd name="adj" fmla="val 8000"/>
            </a:avLst>
          </a:prstGeom>
          <a:solidFill>
            <a:srgbClr val="2A182C"/>
          </a:solidFill>
          <a:ln w="11430">
            <a:solidFill>
              <a:srgbClr val="FF819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4003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FF81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BEFORE: MANUAL WORK</a:t>
            </a:r>
            <a:endParaRPr sz="900" b="1">
              <a:solidFill>
                <a:srgbClr val="FF819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724150"/>
            <a:ext cx="381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Search across tools and folders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Repeat device setup and handoff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Manually upload and reconcile formats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Wait for results, then copy findings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53200" y="2190750"/>
            <a:ext cx="5029200" cy="1428750"/>
          </a:xfrm>
          <a:prstGeom prst="roundRect">
            <a:avLst>
              <a:gd name="adj" fmla="val 8000"/>
            </a:avLst>
          </a:prstGeom>
          <a:solidFill>
            <a:srgbClr val="12312F"/>
          </a:solidFill>
          <a:ln w="11430">
            <a:solidFill>
              <a:srgbClr val="62E4A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781800" y="2400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AFTER: PLATFORM WORKFLOW</a:t>
            </a:r>
            <a:endParaRPr sz="90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81800" y="2724150"/>
            <a:ext cx="428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One entry and shared context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Standardized device and test actions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Automated records and analysis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Direct evidence for review and collaboration</a:t>
            </a:r>
            <a:endParaRPr sz="1125" b="0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429250" y="2714625"/>
            <a:ext cx="914400" cy="381000"/>
          </a:xfrm>
          <a:prstGeom prst="rightArrow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4257675"/>
            <a:ext cx="209550" cy="0"/>
          </a:xfrm>
          <a:prstGeom prst="line">
            <a:avLst/>
          </a:prstGeom>
          <a:noFill/>
          <a:ln w="19050">
            <a:solidFill>
              <a:srgbClr val="45E5F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41719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Less context switching</a:t>
            </a:r>
            <a:endParaRPr sz="97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57500" y="41719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Modules and navigation keep the next action visible.</a:t>
            </a:r>
            <a:endParaRPr sz="9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09600" y="4657725"/>
            <a:ext cx="209550" cy="0"/>
          </a:xfrm>
          <a:prstGeom prst="line">
            <a:avLst/>
          </a:prstGeom>
          <a:noFill/>
          <a:ln w="19050">
            <a:solidFill>
              <a:srgbClr val="78A9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572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Less duplicate entry</a:t>
            </a:r>
            <a:endParaRPr sz="975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57500" y="45720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Records, links, and versions can share structured context.</a:t>
            </a:r>
            <a:endParaRPr sz="9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5057775"/>
            <a:ext cx="209550" cy="0"/>
          </a:xfrm>
          <a:prstGeom prst="line">
            <a:avLst/>
          </a:prstGeom>
          <a:noFill/>
          <a:ln w="19050">
            <a:solidFill>
              <a:srgbClr val="62E4A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1550" y="49720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Less idle waiting</a:t>
            </a:r>
            <a:endParaRPr sz="975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9720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Monitoring and background flows surface status earlier.</a:t>
            </a:r>
            <a:endParaRPr sz="9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09600" y="5457825"/>
            <a:ext cx="209550" cy="0"/>
          </a:xfrm>
          <a:prstGeom prst="line">
            <a:avLst/>
          </a:prstGeom>
          <a:noFill/>
          <a:ln w="19050">
            <a:solidFill>
              <a:srgbClr val="B39A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5372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Less deployment friction</a:t>
            </a:r>
            <a:endParaRPr sz="975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57500" y="537210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Build, sync, restart, and verify follow a standard path.</a:t>
            </a:r>
            <a:endParaRPr sz="9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Engineering safeguards: observable, recoverable, maintainable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09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same architecture that accelerates work also provides boundaries for access, data, operations, and external integrations.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095500"/>
            <a:ext cx="5391150" cy="1181100"/>
          </a:xfrm>
          <a:prstGeom prst="roundRect">
            <a:avLst>
              <a:gd name="adj" fmla="val 9677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椭圆 6"/>
          <p:cNvSpPr>
            <a:spLocks noGrp="1"/>
          </p:cNvSpPr>
          <p:nvPr/>
        </p:nvSpPr>
        <p:spPr>
          <a:xfrm>
            <a:off x="819150" y="2362200"/>
            <a:ext cx="400050" cy="40005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486216"/>
            <a:ext cx="40005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AUTH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28750" y="2324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 &amp; auth</a:t>
            </a:r>
            <a:endParaRPr sz="1275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289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JWT access / refresh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FastAPI routers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locale middleware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91250" y="2095500"/>
            <a:ext cx="5391150" cy="1181100"/>
          </a:xfrm>
          <a:prstGeom prst="roundRect">
            <a:avLst>
              <a:gd name="adj" fmla="val 9677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椭圆 11"/>
          <p:cNvSpPr>
            <a:spLocks noGrp="1"/>
          </p:cNvSpPr>
          <p:nvPr/>
        </p:nvSpPr>
        <p:spPr>
          <a:xfrm>
            <a:off x="6400800" y="2362200"/>
            <a:ext cx="400050" cy="40005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00800" y="2486216"/>
            <a:ext cx="40005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10400" y="2324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 &amp; traceability</a:t>
            </a:r>
            <a:endParaRPr sz="1275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10400" y="26289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MongoDB business records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SQLite local state / caches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upload and link flows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3619500"/>
            <a:ext cx="5391150" cy="1181100"/>
          </a:xfrm>
          <a:prstGeom prst="roundRect">
            <a:avLst>
              <a:gd name="adj" fmla="val 9677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椭圆 16"/>
          <p:cNvSpPr>
            <a:spLocks noGrp="1"/>
          </p:cNvSpPr>
          <p:nvPr/>
        </p:nvSpPr>
        <p:spPr>
          <a:xfrm>
            <a:off x="819150" y="3886200"/>
            <a:ext cx="400050" cy="40005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4010216"/>
            <a:ext cx="40005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OPS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3848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Operations</a:t>
            </a:r>
            <a:endParaRPr sz="127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28750" y="41529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structured logs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systemd service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Nginx proxy + health checks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191250" y="3619500"/>
            <a:ext cx="5391150" cy="1181100"/>
          </a:xfrm>
          <a:prstGeom prst="roundRect">
            <a:avLst>
              <a:gd name="adj" fmla="val 9677"/>
            </a:avLst>
          </a:prstGeom>
          <a:solidFill>
            <a:srgbClr val="151F39"/>
          </a:solidFill>
          <a:ln w="9525">
            <a:solidFill>
              <a:srgbClr val="2E41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椭圆 21"/>
          <p:cNvSpPr>
            <a:spLocks noGrp="1"/>
          </p:cNvSpPr>
          <p:nvPr/>
        </p:nvSpPr>
        <p:spPr>
          <a:xfrm>
            <a:off x="6400800" y="3886200"/>
            <a:ext cx="400050" cy="40005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4010216"/>
            <a:ext cx="40005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675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LINK</a:t>
            </a:r>
            <a:endParaRPr sz="675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10400" y="3848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Integrations</a:t>
            </a:r>
            <a:endParaRPr sz="1275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10400" y="41529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Google Drive / Slack / Duro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LLM / Opentrons modules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replaceable service boundaries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09600" y="5257800"/>
            <a:ext cx="10972800" cy="514350"/>
          </a:xfrm>
          <a:prstGeom prst="roundRect">
            <a:avLst>
              <a:gd name="adj" fmla="val 18519"/>
            </a:avLst>
          </a:prstGeom>
          <a:solidFill>
            <a:srgbClr val="101A30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9150" y="54292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FROM FAILURE TO FEEDBACK</a:t>
            </a:r>
            <a:endParaRPr sz="9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24200" y="541020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Errors remain diagnosable, and workflows can evolve without rewriting the entire platform.</a:t>
            </a:r>
            <a:endParaRPr sz="112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矩形 44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Delivery flow: one build, repeatable deployment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10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47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Deployment scripts connect frontend build, code synchronization, service restart, Nginx configuration, and health checks through a single path.</a:t>
            </a:r>
            <a:endParaRPr sz="12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076450"/>
            <a:ext cx="2609850" cy="3752850"/>
          </a:xfrm>
          <a:prstGeom prst="roundRect">
            <a:avLst>
              <a:gd name="adj" fmla="val 5839"/>
            </a:avLst>
          </a:prstGeom>
          <a:solidFill>
            <a:srgbClr val="111A30"/>
          </a:solidFill>
          <a:ln w="11430">
            <a:solidFill>
              <a:srgbClr val="45E5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3241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847"/>
          </a:bodyPr>
          <a:lstStyle/>
          <a:p>
            <a:pPr algn="l">
              <a:def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COMMON ENTRY POINTS</a:t>
            </a:r>
            <a:endParaRPr sz="12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76550"/>
            <a:ext cx="21145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make sync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make backend-test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make web-build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make deploy-remote</a:t>
            </a:r>
            <a:endParaRPr sz="142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476250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46"/>
          </a:bodyPr>
          <a:lstStyle/>
          <a:p>
            <a:pPr algn="l">
              <a:def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One convention for dependencies, tests, builds, and deployment</a:t>
            </a:r>
            <a:endParaRPr sz="105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Less risk of local/server drift</a:t>
            </a:r>
            <a:endParaRPr sz="105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886200" y="2800350"/>
            <a:ext cx="1181100" cy="1771650"/>
          </a:xfrm>
          <a:prstGeom prst="roundRect">
            <a:avLst>
              <a:gd name="adj" fmla="val 11290"/>
            </a:avLst>
          </a:prstGeom>
          <a:solidFill>
            <a:srgbClr val="151F39"/>
          </a:solidFill>
          <a:ln w="11430">
            <a:solidFill>
              <a:srgbClr val="45E5F2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248150" y="3009900"/>
            <a:ext cx="457200" cy="457200"/>
          </a:xfrm>
          <a:prstGeom prst="ellipse">
            <a:avLst/>
          </a:prstGeom>
          <a:solidFill>
            <a:srgbClr val="45E5F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48150" y="3151632"/>
            <a:ext cx="4572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90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8145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Build</a:t>
            </a:r>
            <a:endParaRPr sz="12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81450" y="4048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npm ci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web build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391150" y="2800350"/>
            <a:ext cx="1181100" cy="1771650"/>
          </a:xfrm>
          <a:prstGeom prst="roundRect">
            <a:avLst>
              <a:gd name="adj" fmla="val 11290"/>
            </a:avLst>
          </a:prstGeom>
          <a:solidFill>
            <a:srgbClr val="151F39"/>
          </a:solidFill>
          <a:ln w="11430">
            <a:solidFill>
              <a:srgbClr val="78A9FF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753100" y="3009900"/>
            <a:ext cx="457200" cy="457200"/>
          </a:xfrm>
          <a:prstGeom prst="ellipse">
            <a:avLst/>
          </a:prstGeom>
          <a:solidFill>
            <a:srgbClr val="78A9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53100" y="3151632"/>
            <a:ext cx="4572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90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8640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78A9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Sync</a:t>
            </a:r>
            <a:endParaRPr sz="1200" b="1">
              <a:solidFill>
                <a:srgbClr val="78A9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86400" y="4048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rsync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backend + dist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067300" y="3686175"/>
            <a:ext cx="3238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96100" y="2800350"/>
            <a:ext cx="1181100" cy="1771650"/>
          </a:xfrm>
          <a:prstGeom prst="roundRect">
            <a:avLst>
              <a:gd name="adj" fmla="val 11290"/>
            </a:avLst>
          </a:prstGeom>
          <a:solidFill>
            <a:srgbClr val="151F39"/>
          </a:solidFill>
          <a:ln w="11430">
            <a:solidFill>
              <a:srgbClr val="62E4A4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7258050" y="3009900"/>
            <a:ext cx="457200" cy="457200"/>
          </a:xfrm>
          <a:prstGeom prst="ellipse">
            <a:avLst/>
          </a:prstGeom>
          <a:solidFill>
            <a:srgbClr val="62E4A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58050" y="3151632"/>
            <a:ext cx="4572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90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9135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Restart</a:t>
            </a:r>
            <a:endParaRPr sz="120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991350" y="4048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systemd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FastAPI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572250" y="3686175"/>
            <a:ext cx="3238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8401050" y="2800350"/>
            <a:ext cx="1181100" cy="1771650"/>
          </a:xfrm>
          <a:prstGeom prst="roundRect">
            <a:avLst>
              <a:gd name="adj" fmla="val 11290"/>
            </a:avLst>
          </a:prstGeom>
          <a:solidFill>
            <a:srgbClr val="151F39"/>
          </a:solidFill>
          <a:ln w="11430">
            <a:solidFill>
              <a:srgbClr val="F4C66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8763000" y="3009900"/>
            <a:ext cx="457200" cy="457200"/>
          </a:xfrm>
          <a:prstGeom prst="ellipse">
            <a:avLst/>
          </a:prstGeom>
          <a:solidFill>
            <a:srgbClr val="F4C66B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0" y="3151632"/>
            <a:ext cx="4572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90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9630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Configure</a:t>
            </a:r>
            <a:endParaRPr sz="1200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96300" y="4048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nginx -t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reload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8077200" y="3686175"/>
            <a:ext cx="3238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9906000" y="2800350"/>
            <a:ext cx="1181100" cy="1771650"/>
          </a:xfrm>
          <a:prstGeom prst="roundRect">
            <a:avLst>
              <a:gd name="adj" fmla="val 11290"/>
            </a:avLst>
          </a:prstGeom>
          <a:solidFill>
            <a:srgbClr val="151F39"/>
          </a:solidFill>
          <a:ln w="11430">
            <a:solidFill>
              <a:srgbClr val="B39AFF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10267950" y="3009900"/>
            <a:ext cx="457200" cy="457200"/>
          </a:xfrm>
          <a:prstGeom prst="ellipse">
            <a:avLst/>
          </a:prstGeom>
          <a:solidFill>
            <a:srgbClr val="B39AFF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267950" y="3151632"/>
            <a:ext cx="4572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0B102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900" b="1">
              <a:solidFill>
                <a:srgbClr val="0B102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0125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Verify</a:t>
            </a:r>
            <a:endParaRPr sz="1200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001250" y="4048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health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def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check</a:t>
            </a:r>
            <a:endParaRPr sz="975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9582150" y="3686175"/>
            <a:ext cx="323850" cy="0"/>
          </a:xfrm>
          <a:prstGeom prst="line">
            <a:avLst/>
          </a:prstGeom>
          <a:noFill/>
          <a:ln w="19050">
            <a:solidFill>
              <a:srgbClr val="2E4168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3886200" y="5048250"/>
            <a:ext cx="7524750" cy="781050"/>
          </a:xfrm>
          <a:prstGeom prst="roundRect">
            <a:avLst>
              <a:gd name="adj" fmla="val 19512"/>
            </a:avLst>
          </a:prstGeom>
          <a:solidFill>
            <a:srgbClr val="1B2948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133850" y="5219700"/>
            <a:ext cx="1790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DEPLOYMENT OBJECTIVE</a:t>
            </a:r>
            <a:endParaRPr sz="90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72200" y="5210175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77"/>
          </a:bodyPr>
          <a:lstStyle/>
          <a:p>
            <a:pPr algn="l">
              <a:defRPr sz="112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Turn build, sync, restart, and verify into repeatable, reviewable engineering actions.</a:t>
            </a:r>
            <a:endParaRPr sz="1125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172200" y="5524500"/>
            <a:ext cx="483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Default server: 192.168.6.55 · Install path: /opt/production-platform</a:t>
            </a:r>
            <a:endParaRPr sz="90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09600" y="65532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Technical Report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239000" y="6553200"/>
            <a:ext cx="434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75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 basis: repository code, README, and deployment scripts</a:t>
            </a:r>
            <a:endParaRPr sz="75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100000">
              <a:srgbClr val="142343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2667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PRODUCTION PLATFORM · SUMMARY</a:t>
            </a:r>
            <a:endParaRPr sz="825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Conclusion: a reusable production engineering foundation</a:t>
            </a:r>
            <a:endParaRPr sz="2100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2762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</a:t>
            </a:r>
            <a:endParaRPr sz="900" b="1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E416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56210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defRPr sz="18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>
                <a:solidFill>
                  <a:srgbClr val="F7FAF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current project transforms the most time-consuming parts of production testing—switching, moving, repeating, and deploying—into platform capabilities.</a:t>
            </a:r>
            <a:endParaRPr sz="1875" b="1">
              <a:solidFill>
                <a:srgbClr val="F7FAF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800350"/>
            <a:ext cx="3295650" cy="1409700"/>
          </a:xfrm>
          <a:prstGeom prst="roundRect">
            <a:avLst>
              <a:gd name="adj" fmla="val 10811"/>
            </a:avLst>
          </a:prstGeom>
          <a:solidFill>
            <a:srgbClr val="151F39"/>
          </a:solidFill>
          <a:ln w="11430">
            <a:solidFill>
              <a:srgbClr val="45E5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3067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Unified workspace</a:t>
            </a:r>
            <a:endParaRPr sz="135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50520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Devices, tests, data, versions, and intelligence collaborate in one platform.</a:t>
            </a:r>
            <a:endParaRPr sz="105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10050" y="2800350"/>
            <a:ext cx="3295650" cy="1409700"/>
          </a:xfrm>
          <a:prstGeom prst="roundRect">
            <a:avLst>
              <a:gd name="adj" fmla="val 10811"/>
            </a:avLst>
          </a:prstGeom>
          <a:solidFill>
            <a:srgbClr val="151F39"/>
          </a:solidFill>
          <a:ln w="11430">
            <a:solidFill>
              <a:srgbClr val="62E4A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3067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62E4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Closed data loop</a:t>
            </a:r>
            <a:endParaRPr sz="1350" b="1">
              <a:solidFill>
                <a:srgbClr val="62E4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38650" y="350520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Raw files become records, analysis, quality decisions, and version context.</a:t>
            </a:r>
            <a:endParaRPr sz="105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0" y="2800350"/>
            <a:ext cx="3295650" cy="1409700"/>
          </a:xfrm>
          <a:prstGeom prst="roundRect">
            <a:avLst>
              <a:gd name="adj" fmla="val 10811"/>
            </a:avLst>
          </a:prstGeom>
          <a:solidFill>
            <a:srgbClr val="151F39"/>
          </a:solidFill>
          <a:ln w="11430">
            <a:solidFill>
              <a:srgbClr val="B39A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3067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B39A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Engineering automation</a:t>
            </a:r>
            <a:endParaRPr sz="1350" b="1">
              <a:solidFill>
                <a:srgbClr val="B39A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39100" y="350520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def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AAB7C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Dependencies, builds, deployments, service management, and health checks follow a standard path.</a:t>
            </a:r>
            <a:endParaRPr sz="1050" b="0">
              <a:solidFill>
                <a:srgbClr val="AAB7C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09600" y="4686300"/>
            <a:ext cx="10972800" cy="990600"/>
          </a:xfrm>
          <a:prstGeom prst="roundRect">
            <a:avLst>
              <a:gd name="adj" fmla="val 13462"/>
            </a:avLst>
          </a:prstGeom>
          <a:solidFill>
            <a:srgbClr val="101A2E"/>
          </a:solidFill>
          <a:ln w="9525">
            <a:solidFill>
              <a:srgbClr val="2E416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9149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F4C66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RECOMMENDED NEXT STEPS</a:t>
            </a:r>
            <a:endParaRPr sz="900" b="1">
              <a:solidFill>
                <a:srgbClr val="F4C66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52750" y="489585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Add efficiency telemetry · strengthen end-to-end logs and alerts · continue optimizing frontend asset loading · turn high-frequency knowledge into Agent tools</a:t>
            </a:r>
            <a:endParaRPr sz="105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2293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0">
                <a:solidFill>
                  <a:srgbClr val="6F80A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Scope: current repository source, deployment scripts, and runtime model · September 9, 2026</a:t>
            </a:r>
            <a:endParaRPr sz="900" b="0">
              <a:solidFill>
                <a:srgbClr val="6F80A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0" y="61912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45E5F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THANK YOU</a:t>
            </a:r>
            <a:endParaRPr sz="1350" b="1">
              <a:solidFill>
                <a:srgbClr val="45E5F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8570</Words>
  <Application>WPS 表格</Application>
  <PresentationFormat>Converted Presentation</PresentationFormat>
  <Paragraphs>498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Helvetica Neue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andy</cp:lastModifiedBy>
  <cp:revision>1</cp:revision>
  <dcterms:created xsi:type="dcterms:W3CDTF">2026-09-09T07:31:56Z</dcterms:created>
  <dcterms:modified xsi:type="dcterms:W3CDTF">2026-09-09T07:31:56Z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86223F55E269FE736C0BA16AA36B6F85_42</vt:lpwstr>
  </property>
</Properties>
</file>