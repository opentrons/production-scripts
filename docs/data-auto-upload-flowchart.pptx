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82256eb2d74612" /><Relationship Type="http://schemas.openxmlformats.org/officeDocument/2006/relationships/extended-properties" Target="/docProps/app.xml" Id="Rd2bfd5fc11264c6f" /><Relationship Type="http://schemas.openxmlformats.org/officeDocument/2006/relationships/officeDocument" Target="/ppt/presentation.xml" Id="Raf946368a8b341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5a1fb83e0f432b"/>
  </p:sldMasterIdLst>
  <p:notesMasterIdLst>
    <p:notesMasterId xmlns:r="http://schemas.openxmlformats.org/officeDocument/2006/relationships" r:id="R7427fc67afd848bf"/>
  </p:notesMasterIdLst>
  <p:sldIdLst>
    <p:sldId xmlns:r="http://schemas.openxmlformats.org/officeDocument/2006/relationships" id="256" r:id="Rcd52bd1248164b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0da3fca1664d2d" /><Relationship Type="http://schemas.openxmlformats.org/officeDocument/2006/relationships/slideMaster" Target="/ppt/slideMasters/slideMaster1.xml" Id="Rf85a1fb83e0f432b" /><Relationship Type="http://schemas.openxmlformats.org/officeDocument/2006/relationships/notesMaster" Target="/ppt/notesMasters/notesMaster1.xml" Id="R7427fc67afd848bf" /><Relationship Type="http://schemas.openxmlformats.org/officeDocument/2006/relationships/presProps" Target="/ppt/presProps.xml" Id="R3760ae03028c462c" /><Relationship Type="http://schemas.openxmlformats.org/officeDocument/2006/relationships/tableStyles" Target="/ppt/tableStyles.xml" Id="Rf6e29aaf0cf14314" /><Relationship Type="http://schemas.openxmlformats.org/officeDocument/2006/relationships/slide" Target="/ppt/slides/slide1.xml" Id="Rcd52bd1248164b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4cc02d012845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11116f654a4029" /><Relationship Type="http://schemas.openxmlformats.org/officeDocument/2006/relationships/notesMaster" Target="/ppt/notesMasters/notesMaster1.xml" Id="Rbdabdbc8967c48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apps/backend/src/modules/robots/api_client/client.py; apps/backend/src/modules/robots/file_transfer.py; apps/backend/src/api/routers/uploads.py; apps/backend/src/modules/uploads/scheduler.py; apps/backend/src/modules/uploads/upload.py; apps/backend/src/modules/uploads/upload_records.py; apps/backend/src/modules/uploads/handler/upload.py; apps/backend/src/modules/system/health.py.</a:t>
            </a:r>
          </a:p>
          <a:p xmlns:a="http://schemas.openxmlformats.org/drawingml/2006/main">
            <a:r>
              <a:t>The robot GET /health call is a device pre-check and identity source. It is not the same function as the platform health cache refresh.</a:t>
            </a:r>
          </a:p>
          <a:p xmlns:a="http://schemas.openxmlformats.org/drawingml/2006/main">
            <a:r>
              <a:t>The upload pipeline persists an upload record, claims work with a lease, validates the queued file, runs the Google Sheets / Drive workflow, writes the business record, and queues Slack notification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53a2f5fa24c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02c1b181bc4577" /><Relationship Type="http://schemas.openxmlformats.org/officeDocument/2006/relationships/slideLayout" Target="/ppt/slideLayouts/slideLayout1.xml" Id="Rec14d7bb807844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14d7bb807844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0ac6b836d45c6" /><Relationship Type="http://schemas.openxmlformats.org/officeDocument/2006/relationships/notesSlide" Target="/ppt/notesSlides/notesSlide1.xml" Id="R05de479023044f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EE35940-94F5-4DAA-A774-D5D007C1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rPr>
              <a:t>PRODUCTION PLATFORM · TECHNICAL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D5B52-DFF8-44C4-9F8B-B582C2C1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Data auto-upload flow: from robot health to database and Slack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E2BA5-0131-4569-A79D-2F348008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0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F80A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D045E-B8E2-489C-8018-FA9370CD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41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6DE8C-F564-4D7A-96D3-62758CCB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The health check identifies the instrument and gates the upload path; durable records and a separate notification worker make the result traceable.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4057D-B86D-46E5-9E65-E2A16BAB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1A30"/>
          </a:solidFill>
          <a:ln xmlns:a="http://schemas.openxmlformats.org/drawingml/2006/main" w="9525">
            <a:solidFill>
              <a:srgbClr val="2E41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D1C43-FC5B-4CC5-9872-6F35A09E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rPr>
              <a:t>SEMANTIC NOTE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38912-6E1B-499C-8ECD-DC0F741D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800225"/>
            <a:ext cx="9105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8EE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E8EEF8"/>
                </a:solidFill>
                <a:latin typeface="Helvetica Neue"/>
                <a:ea typeface="Helvetica Neue"/>
                <a:cs typeface="Helvetica Neue"/>
              </a:rPr>
              <a:t>Robot get_health() = GET /health pre-check. Platform health refresh separately probes backend, Slack, and Google Drive and caches the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D665C-2A67-4B53-925D-1F4A9B26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01A30"/>
          </a:solidFill>
          <a:ln xmlns:a="http://schemas.openxmlformats.org/drawingml/2006/main" w="9525">
            <a:solidFill>
              <a:srgbClr val="2E41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52073-46F7-4AF4-82EC-034C09D3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rPr>
              <a:t>01  DEVICE /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B2E48-4D8D-4619-B81A-06AC8AA3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01A30"/>
          </a:solidFill>
          <a:ln xmlns:a="http://schemas.openxmlformats.org/drawingml/2006/main" w="9525">
            <a:solidFill>
              <a:srgbClr val="2E41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63994-45B4-43C5-A336-C8F8D025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8A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78A9FF"/>
                </a:solidFill>
                <a:latin typeface="Helvetica Neue"/>
                <a:ea typeface="Helvetica Neue"/>
                <a:cs typeface="Helvetica Neue"/>
              </a:rPr>
              <a:t>02  UPLOAD WORKER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5F363-B785-4DA5-8569-0FF547C0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01A30"/>
          </a:solidFill>
          <a:ln xmlns:a="http://schemas.openxmlformats.org/drawingml/2006/main" w="9525">
            <a:solidFill>
              <a:srgbClr val="2E41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2F17D-7005-4F51-8477-D077D0F0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E4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E4A4"/>
                </a:solidFill>
                <a:latin typeface="Helvetica Neue"/>
                <a:ea typeface="Helvetica Neue"/>
                <a:cs typeface="Helvetica Neue"/>
              </a:rPr>
              <a:t>03  CLOUD + 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F59B6-74D2-43EC-B477-4470B756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01A30"/>
          </a:solidFill>
          <a:ln xmlns:a="http://schemas.openxmlformats.org/drawingml/2006/main" w="9525">
            <a:solidFill>
              <a:srgbClr val="2E41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CE463-DA70-46D1-B2F5-D627724E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39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39AFF"/>
                </a:solidFill>
                <a:latin typeface="Helvetica Neue"/>
                <a:ea typeface="Helvetica Neue"/>
                <a:cs typeface="Helvetica Neue"/>
              </a:rPr>
              <a:t>04  NOTIFICATION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46147-5E58-4862-80D7-423BE9EC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980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45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215E5-916E-4F0A-BE23-3EC60E0A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3336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rPr>
              <a:t>GET /health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9666E-6E20-4125-8EF4-9E9F9B0D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812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robot reachability + 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92470-CA2B-4894-B158-DABA1971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980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45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EAC6D-4C04-42A1-813B-94530D4C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336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rPr>
              <a:t>Collect test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A5DCF-F7B6-4725-9A82-E923758E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812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CSV / ZIP via SFTP or SCP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F4556-726F-431C-80E2-7F06D75B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45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B9F8F-5B06-4B0E-9192-49364BC5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rPr>
              <a:t>Start upload 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AAE4B9-D642-40BE-A743-EE3FC4F3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812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idempotency + file metadata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721E50-549E-4348-8625-EE779220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0980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45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AC3965-25CF-4CF9-8B3E-52C4DF60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336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5E5F2"/>
                </a:solidFill>
                <a:latin typeface="Helvetica Neue"/>
                <a:ea typeface="Helvetica Neue"/>
                <a:cs typeface="Helvetica Neue"/>
              </a:rPr>
              <a:t>Scheduler claims lease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DAABCB-F428-4684-B03D-357230B8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812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background worker + retry</a:t>
            </a:r>
          </a:p>
        </p:txBody>
      </p:sp>
      <p:cxnSp>
        <p:nvCxnSpPr>
          <p:cNvPr id="113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191000" y="25527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cxnSp>
        <p:nvCxnSpPr>
          <p:cNvPr id="114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953250" y="25527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cxnSp>
        <p:nvCxnSpPr>
          <p:cNvPr id="115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715500" y="25527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0D2215-560A-4859-B98A-781D9EFD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5755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78A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22910C-69AA-4714-A7D0-8F3B5EED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813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A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A9FF"/>
                </a:solidFill>
                <a:latin typeface="Helvetica Neue"/>
                <a:ea typeface="Helvetica Neue"/>
                <a:cs typeface="Helvetica Neue"/>
              </a:rPr>
              <a:t>Validate input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518EF9-263E-43EA-8402-CB3228D0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2902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size + SHA-256 integrity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A3B393-7815-4B4D-A670-41DD815E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78A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1C1AA4-B244-4AC4-B191-3833B263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813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A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A9FF"/>
                </a:solidFill>
                <a:latin typeface="Helvetica Neue"/>
                <a:ea typeface="Helvetica Neue"/>
                <a:cs typeface="Helvetica Neue"/>
              </a:rPr>
              <a:t>Parse &amp; resolve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67A727-6796-4077-8A57-F8DA6549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2902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FileDescription / product / config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D7D9DC-BFB1-4C67-8E9D-C776F87D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78A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DB8715-684E-4CD3-B290-EDE2A48E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A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A9FF"/>
                </a:solidFill>
                <a:latin typeface="Helvetica Neue"/>
                <a:ea typeface="Helvetica Neue"/>
                <a:cs typeface="Helvetica Neue"/>
              </a:rPr>
              <a:t>Prepare Google Sheet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2CBA46-7276-4215-9B27-3C13CD3A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2902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create or reuse template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5B20D3-66F4-4008-9B1B-AA4BC6EA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5755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78A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0B426E-8623-481D-B3A2-A96BF7CA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813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A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A9FF"/>
                </a:solidFill>
                <a:latin typeface="Helvetica Neue"/>
                <a:ea typeface="Helvetica Neue"/>
                <a:cs typeface="Helvetica Neue"/>
              </a:rPr>
              <a:t>Write CSV to Sheets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6C615F-5892-43F6-9EAE-3BC9A352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2902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persist raw test rows</a:t>
            </a:r>
          </a:p>
        </p:txBody>
      </p:sp>
      <p:cxnSp>
        <p:nvCxnSpPr>
          <p:cNvPr id="128" name=""/>
          <p:cNvCxnSpPr>
            <a:stCxn xmlns:a="http://schemas.openxmlformats.org/drawingml/2006/main" id="26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3000375" y="2895600"/>
            <a:ext cx="8286750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cxnSp>
        <p:nvCxnSpPr>
          <p:cNvPr id="129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4191000" y="36004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cxnSp>
        <p:nvCxnSpPr>
          <p:cNvPr id="130" name=""/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6953250" y="36004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cxnSp>
        <p:nvCxnSpPr>
          <p:cNvPr id="131" name=""/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9715500" y="36004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1E7DF6-5C65-43A5-AA09-4C265DE9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0530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62E4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7623B8-8F51-4FBB-B465-E5709F43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291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E4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E4A4"/>
                </a:solidFill>
                <a:latin typeface="Helvetica Neue"/>
                <a:ea typeface="Helvetica Neue"/>
                <a:cs typeface="Helvetica Neue"/>
              </a:rPr>
              <a:t>Read summary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7C3928-3387-4DE9-B135-DF8C2FE7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767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test result / tracker data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FCE830-0056-4A45-B6EF-AAC4369A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0530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62E4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02357B-6E04-4720-ADBA-ABA95F1A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291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E4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E4A4"/>
                </a:solidFill>
                <a:latin typeface="Helvetica Neue"/>
                <a:ea typeface="Helvetica Neue"/>
                <a:cs typeface="Helvetica Neue"/>
              </a:rPr>
              <a:t>Upload raw artifacts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B17FE2-16B3-4793-AA1A-6DD69C90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767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Google Drive + links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9748E9-93B6-4412-9685-F4021C54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0530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62E4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C46EFB-5ED5-4F14-882D-D830702E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291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E4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E4A4"/>
                </a:solidFill>
                <a:latin typeface="Helvetica Neue"/>
                <a:ea typeface="Helvetica Neue"/>
                <a:cs typeface="Helvetica Neue"/>
              </a:rPr>
              <a:t>Write business record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7E635C-B781-48D7-8C00-4C4AD3E3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767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MongoDB; SQLite in simulation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1307B7C-A857-4767-8E70-B536E5C8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0530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62E4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56AF51-55C4-457A-83CA-0BCBB92C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291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E4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E4A4"/>
                </a:solidFill>
                <a:latin typeface="Helvetica Neue"/>
                <a:ea typeface="Helvetica Neue"/>
                <a:cs typeface="Helvetica Neue"/>
              </a:rPr>
              <a:t>Resolve DB outcome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A21693-C411-4362-B845-21E812C4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6767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saved / incomplete / failed</a:t>
            </a:r>
          </a:p>
        </p:txBody>
      </p:sp>
      <p:cxnSp>
        <p:nvCxnSpPr>
          <p:cNvPr id="144" name=""/>
          <p:cNvCxnSpPr>
            <a:stCxn xmlns:a="http://schemas.openxmlformats.org/drawingml/2006/main" id="41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 flipH="1">
            <a:off x="3000375" y="3943350"/>
            <a:ext cx="8286750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cxnSp>
        <p:nvCxnSpPr>
          <p:cNvPr id="145" name=""/>
          <p:cNvCxnSpPr>
            <a:stCxn xmlns:a="http://schemas.openxmlformats.org/drawingml/2006/main" id="48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4191000" y="46482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cxnSp>
        <p:nvCxnSpPr>
          <p:cNvPr id="146" name=""/>
          <p:cNvCxnSpPr>
            <a:stCxn xmlns:a="http://schemas.openxmlformats.org/drawingml/2006/main" id="51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6953250" y="46482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cxnSp>
        <p:nvCxnSpPr>
          <p:cNvPr id="147" name=""/>
          <p:cNvCxnSpPr>
            <a:stCxn xmlns:a="http://schemas.openxmlformats.org/drawingml/2006/main" id="54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9715500" y="46482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2ABE9D-4A16-49B3-800E-4C4F340A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5305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B39A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1F6492C-09F0-4604-AA10-9232C2E6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768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39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39AFF"/>
                </a:solidFill>
                <a:latin typeface="Helvetica Neue"/>
                <a:ea typeface="Helvetica Neue"/>
                <a:cs typeface="Helvetica Neue"/>
              </a:rPr>
              <a:t>Finish upload record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927D85-6C37-4B97-88C6-E1B64248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72452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upload + database status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C35392-4DFE-4569-964B-C568EE23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5305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B39A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60383CB-2DFC-4419-A676-E39215E0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39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39AFF"/>
                </a:solidFill>
                <a:latin typeface="Helvetica Neue"/>
                <a:ea typeface="Helvetica Neue"/>
                <a:cs typeface="Helvetica Neue"/>
              </a:rPr>
              <a:t>Queue Slack notification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64A31A2-DC4C-4A6D-B250-E8A5ADD8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2452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success or failure payload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BBFA03-CA47-4761-8556-4E324886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5305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B39A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3C60FE-DCB1-4B69-A896-C1CBC661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768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39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39AFF"/>
                </a:solidFill>
                <a:latin typeface="Helvetica Neue"/>
                <a:ea typeface="Helvetica Neue"/>
                <a:cs typeface="Helvetica Neue"/>
              </a:rPr>
              <a:t>Slack worker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FA04014-CB7E-4F6F-B4C0-A430348F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72452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send links + error hints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B35C561-BCD9-47A8-9096-23492B69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53050"/>
            <a:ext cx="238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948"/>
          </a:solidFill>
          <a:ln xmlns:a="http://schemas.openxmlformats.org/drawingml/2006/main" w="11430">
            <a:solidFill>
              <a:srgbClr val="B39A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43DEEDB-B565-429D-851C-12550E34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4768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39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39AFF"/>
                </a:solidFill>
                <a:latin typeface="Helvetica Neue"/>
                <a:ea typeface="Helvetica Neue"/>
                <a:cs typeface="Helvetica Neue"/>
              </a:rPr>
              <a:t>Notification state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4D98EB-065F-4F83-B40E-A51A6DAF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2452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AB7CE"/>
                </a:solidFill>
                <a:latin typeface="Helvetica Neue"/>
                <a:ea typeface="Helvetica Neue"/>
                <a:cs typeface="Helvetica Neue"/>
              </a:rPr>
              <a:t>success / retry / failed</a:t>
            </a:r>
          </a:p>
        </p:txBody>
      </p:sp>
      <p:cxnSp>
        <p:nvCxnSpPr>
          <p:cNvPr id="160" name=""/>
          <p:cNvCxnSpPr>
            <a:stCxn xmlns:a="http://schemas.openxmlformats.org/drawingml/2006/main" id="57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 flipH="1">
            <a:off x="3000375" y="4991100"/>
            <a:ext cx="8286750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cxnSp>
        <p:nvCxnSpPr>
          <p:cNvPr id="161" name=""/>
          <p:cNvCxnSpPr>
            <a:stCxn xmlns:a="http://schemas.openxmlformats.org/drawingml/2006/main" id="64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91000" y="5695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cxnSp>
        <p:nvCxnSpPr>
          <p:cNvPr id="162" name=""/>
          <p:cNvCxnSpPr>
            <a:stCxn xmlns:a="http://schemas.openxmlformats.org/drawingml/2006/main" id="67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6953250" y="5695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cxnSp>
        <p:nvCxnSpPr>
          <p:cNvPr id="163" name=""/>
          <p:cNvCxnSpPr>
            <a:stCxn xmlns:a="http://schemas.openxmlformats.org/drawingml/2006/main" id="70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9715500" y="5695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4168"/>
            </a:solidFill>
            <a:prstDash val="solid"/>
            <a:tailEnd type="arrow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46FD55E-9965-4690-A149-EE80D7C8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A182C"/>
          </a:solidFill>
          <a:ln xmlns:a="http://schemas.openxmlformats.org/drawingml/2006/main" w="9525">
            <a:solidFill>
              <a:srgbClr val="FF819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F00FC49-3582-4028-936B-AE293838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484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81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819A"/>
                </a:solidFill>
                <a:latin typeface="Helvetica Neue"/>
                <a:ea typeface="Helvetica Neue"/>
                <a:cs typeface="Helvetica Neue"/>
              </a:rPr>
              <a:t>FAILURE PATH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7A6A79-831C-49AB-93FA-B5613BB9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238875"/>
            <a:ext cx="895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8EE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E8EEF8"/>
                </a:solidFill>
                <a:latin typeface="Helvetica Neue"/>
                <a:ea typeface="Helvetica Neue"/>
                <a:cs typeface="Helvetica Neue"/>
              </a:rPr>
              <a:t>Persist failure stage / code → retry when retryable → send a failure message to Slack with diagnostics.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826E931-483D-4E60-9F87-898460E9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0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F80A4"/>
                </a:solidFill>
                <a:latin typeface="Helvetica Neue"/>
                <a:ea typeface="Helvetica Neue"/>
                <a:cs typeface="Helvetica Neue"/>
              </a:rPr>
              <a:t>Production Platform · Technical Report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6A072E9-28DE-4AC2-809E-0A5266DE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53200"/>
            <a:ext cx="434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80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F80A4"/>
                </a:solidFill>
                <a:latin typeface="Helvetica Neue"/>
                <a:ea typeface="Helvetica Neue"/>
                <a:cs typeface="Helvetica Neue"/>
              </a:rPr>
              <a:t>Source basis: upload, robot, persistence, and Slack modules</a:t>
            </a:r>
          </a:p>
        </p:txBody>
      </p:sp>
    </p:spTree>
    <p:extLst>
      <p:ext uri="{BB962C8B-B14F-4D97-AF65-F5344CB8AC3E}">
        <p14:creationId xmlns:p14="http://schemas.microsoft.com/office/powerpoint/2010/main" val="1637849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2026-09-09T08:25:43.1400000Z</dcterms:created>
  <dcterms:modified xsi:type="dcterms:W3CDTF">2026-09-09T08:25:43.1400000Z</dcterms:modified>
</coreProperties>
</file>